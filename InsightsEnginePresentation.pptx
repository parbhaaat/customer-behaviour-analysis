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6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60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AF069-4B3B-C035-389F-4039182A2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FCD710-A1AC-6E61-CDA3-32E1002B9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C2EF1-CD12-0E4A-5EA1-FF9FAAC4A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0F66E-E11F-7227-10F3-D2F573E56D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9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Customer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28090"/>
                </a:solidFill>
              </a:rPr>
              <a:t>Insight Engine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18288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97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C5CC"/>
                </a:solidFill>
              </a:rPr>
              <a:t>E-Commerce Customer Behaviour Analysis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EC5CC"/>
                </a:solidFill>
              </a:rPr>
              <a:t>Python  ·  SQL Server  ·  Power BI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1920240" cy="502920"/>
          </a:xfrm>
          <a:prstGeom prst="rect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6"/>
                </a:solidFill>
              </a:rPr>
              <a:t>5,000 Customers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4114800"/>
            <a:ext cx="1920240" cy="502920"/>
          </a:xfrm>
          <a:prstGeom prst="rect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4114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6"/>
                </a:solidFill>
              </a:rPr>
              <a:t>30 Unique Products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4114800"/>
            <a:ext cx="1920240" cy="502920"/>
          </a:xfrm>
          <a:prstGeom prst="rect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4114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6"/>
                </a:solidFill>
              </a:rPr>
              <a:t>17 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4114800"/>
            <a:ext cx="1920240" cy="502920"/>
          </a:xfrm>
          <a:prstGeom prst="rect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4114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6"/>
                </a:solidFill>
              </a:rPr>
              <a:t>End-To-End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029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64008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Business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How can a retail company understand customer purchasing behaviour to increase revenue, improve customer retention, and optimize marketing strategies?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868680"/>
            <a:ext cx="320040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15000" y="914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Dataset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15000" y="121615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</a:rPr>
              <a:t>Type: </a:t>
            </a:r>
            <a:r>
              <a:rPr lang="en-US" sz="1100" dirty="0">
                <a:solidFill>
                  <a:srgbClr val="CADCFC"/>
                </a:solidFill>
              </a:rPr>
              <a:t>Retail / E-commerce
</a:t>
            </a:r>
            <a:r>
              <a:rPr lang="en-US" sz="1100" b="1" dirty="0">
                <a:solidFill>
                  <a:srgbClr val="00A896"/>
                </a:solidFill>
              </a:rPr>
              <a:t>Level: </a:t>
            </a:r>
            <a:r>
              <a:rPr lang="en-US" sz="1100" dirty="0">
                <a:solidFill>
                  <a:srgbClr val="CADCFC"/>
                </a:solidFill>
              </a:rPr>
              <a:t>Customer Transaction
</a:t>
            </a:r>
            <a:r>
              <a:rPr lang="en-US" sz="1100" b="1" dirty="0">
                <a:solidFill>
                  <a:srgbClr val="00A896"/>
                </a:solidFill>
              </a:rPr>
              <a:t>Size: </a:t>
            </a:r>
            <a:r>
              <a:rPr lang="en-US" sz="1100" dirty="0">
                <a:solidFill>
                  <a:srgbClr val="CADCFC"/>
                </a:solidFill>
              </a:rPr>
              <a:t>5,000 records, 17 columns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48840"/>
            <a:ext cx="54864" cy="1188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24028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↓  Low Retention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260604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Who buys once vs. repeatedly?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14884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2148840"/>
            <a:ext cx="54864" cy="1188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3456432" y="224028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◎  Discount Efficacy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56432" y="260604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Do promos actually drive spend?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14884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2148840"/>
            <a:ext cx="54864" cy="1188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224028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▲  Product Demand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2512" y="260604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Which categories earn the most?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520440"/>
            <a:ext cx="54864" cy="1188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361188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⊕  Payment Behavior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" y="397764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Preferred payment channels?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352044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91840" y="3520440"/>
            <a:ext cx="54864" cy="1188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3456432" y="361188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◑  Seasonal Demand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56432" y="397764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Which season drives peak sales?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20AE2F-D353-0F80-35FF-C8F22ECD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CC1253-91A9-CB2A-4C12-61145AE9D1DE}"/>
              </a:ext>
            </a:extLst>
          </p:cNvPr>
          <p:cNvSpPr/>
          <p:nvPr/>
        </p:nvSpPr>
        <p:spPr>
          <a:xfrm>
            <a:off x="0" y="16197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9AAAAC-8F21-9162-67DE-F03B2C671B76}"/>
              </a:ext>
            </a:extLst>
          </p:cNvPr>
          <p:cNvSpPr/>
          <p:nvPr/>
        </p:nvSpPr>
        <p:spPr>
          <a:xfrm>
            <a:off x="365760" y="16197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Data Dictionary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E148175-49D8-1062-AF4C-B27DD433AFA8}"/>
              </a:ext>
            </a:extLst>
          </p:cNvPr>
          <p:cNvSpPr/>
          <p:nvPr/>
        </p:nvSpPr>
        <p:spPr>
          <a:xfrm>
            <a:off x="365760" y="773002"/>
            <a:ext cx="64008" cy="4247109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39B5B7B-2116-E689-A327-D0682A4A8336}"/>
              </a:ext>
            </a:extLst>
          </p:cNvPr>
          <p:cNvSpPr/>
          <p:nvPr/>
        </p:nvSpPr>
        <p:spPr>
          <a:xfrm>
            <a:off x="530352" y="2622237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4B6BFE3-9C94-F0A9-B443-B31B652E3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167862"/>
              </p:ext>
            </p:extLst>
          </p:nvPr>
        </p:nvGraphicFramePr>
        <p:xfrm>
          <a:off x="866218" y="773002"/>
          <a:ext cx="7747430" cy="4279200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3873715">
                  <a:extLst>
                    <a:ext uri="{9D8B030D-6E8A-4147-A177-3AD203B41FA5}">
                      <a16:colId xmlns:a16="http://schemas.microsoft.com/office/drawing/2014/main" val="2030668631"/>
                    </a:ext>
                  </a:extLst>
                </a:gridCol>
                <a:gridCol w="3873715">
                  <a:extLst>
                    <a:ext uri="{9D8B030D-6E8A-4147-A177-3AD203B41FA5}">
                      <a16:colId xmlns:a16="http://schemas.microsoft.com/office/drawing/2014/main" val="3633488570"/>
                    </a:ext>
                  </a:extLst>
                </a:gridCol>
              </a:tblGrid>
              <a:tr h="2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Field Name</a:t>
                      </a:r>
                    </a:p>
                  </a:txBody>
                  <a:tcPr marL="42925" marR="42925" marT="21463" marB="214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Description</a:t>
                      </a:r>
                    </a:p>
                  </a:txBody>
                  <a:tcPr marL="42925" marR="42925" marT="21463" marB="21463" anchor="ctr"/>
                </a:tc>
                <a:extLst>
                  <a:ext uri="{0D108BD9-81ED-4DB2-BD59-A6C34878D82A}">
                    <a16:rowId xmlns:a16="http://schemas.microsoft.com/office/drawing/2014/main" val="903933702"/>
                  </a:ext>
                </a:extLst>
              </a:tr>
              <a:tr h="2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Customer ID</a:t>
                      </a:r>
                      <a:endParaRPr lang="en-IN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Unique identifier for each customer</a:t>
                      </a:r>
                      <a:endParaRPr lang="en-US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extLst>
                  <a:ext uri="{0D108BD9-81ED-4DB2-BD59-A6C34878D82A}">
                    <a16:rowId xmlns:a16="http://schemas.microsoft.com/office/drawing/2014/main" val="1581130478"/>
                  </a:ext>
                </a:extLst>
              </a:tr>
              <a:tr h="2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Age / Gender</a:t>
                      </a:r>
                      <a:endParaRPr lang="en-IN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Customer demographics</a:t>
                      </a:r>
                      <a:endParaRPr lang="en-IN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extLst>
                  <a:ext uri="{0D108BD9-81ED-4DB2-BD59-A6C34878D82A}">
                    <a16:rowId xmlns:a16="http://schemas.microsoft.com/office/drawing/2014/main" val="2922623963"/>
                  </a:ext>
                </a:extLst>
              </a:tr>
              <a:tr h="2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Item Purchased</a:t>
                      </a:r>
                      <a:endParaRPr lang="en-IN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Product purchased by the customer</a:t>
                      </a:r>
                      <a:endParaRPr lang="en-US" sz="13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extLst>
                  <a:ext uri="{0D108BD9-81ED-4DB2-BD59-A6C34878D82A}">
                    <a16:rowId xmlns:a16="http://schemas.microsoft.com/office/drawing/2014/main" val="3901653202"/>
                  </a:ext>
                </a:extLst>
              </a:tr>
              <a:tr h="2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Category</a:t>
                      </a:r>
                      <a:endParaRPr lang="en-IN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Product category (Clothing, Electronics, etc.)</a:t>
                      </a:r>
                      <a:endParaRPr lang="en-US" sz="13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extLst>
                  <a:ext uri="{0D108BD9-81ED-4DB2-BD59-A6C34878D82A}">
                    <a16:rowId xmlns:a16="http://schemas.microsoft.com/office/drawing/2014/main" val="274135886"/>
                  </a:ext>
                </a:extLst>
              </a:tr>
              <a:tr h="2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Purchase Amount</a:t>
                      </a:r>
                      <a:endParaRPr lang="en-IN" sz="13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Amount spent by the customer</a:t>
                      </a:r>
                      <a:endParaRPr lang="en-US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extLst>
                  <a:ext uri="{0D108BD9-81ED-4DB2-BD59-A6C34878D82A}">
                    <a16:rowId xmlns:a16="http://schemas.microsoft.com/office/drawing/2014/main" val="1785625997"/>
                  </a:ext>
                </a:extLst>
              </a:tr>
              <a:tr h="2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Location</a:t>
                      </a:r>
                      <a:endParaRPr lang="en-IN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Customer's geographic location</a:t>
                      </a:r>
                      <a:endParaRPr lang="en-IN" sz="13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extLst>
                  <a:ext uri="{0D108BD9-81ED-4DB2-BD59-A6C34878D82A}">
                    <a16:rowId xmlns:a16="http://schemas.microsoft.com/office/drawing/2014/main" val="2056669410"/>
                  </a:ext>
                </a:extLst>
              </a:tr>
              <a:tr h="2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Size / Colour</a:t>
                      </a:r>
                      <a:endParaRPr lang="en-IN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Product size (S, M, L) &amp; color</a:t>
                      </a:r>
                      <a:endParaRPr lang="en-US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extLst>
                  <a:ext uri="{0D108BD9-81ED-4DB2-BD59-A6C34878D82A}">
                    <a16:rowId xmlns:a16="http://schemas.microsoft.com/office/drawing/2014/main" val="2913367074"/>
                  </a:ext>
                </a:extLst>
              </a:tr>
              <a:tr h="2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Season</a:t>
                      </a:r>
                      <a:endParaRPr lang="en-IN" sz="13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Season of purchase (Winter, Summer, etc.)</a:t>
                      </a:r>
                      <a:endParaRPr lang="en-US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extLst>
                  <a:ext uri="{0D108BD9-81ED-4DB2-BD59-A6C34878D82A}">
                    <a16:rowId xmlns:a16="http://schemas.microsoft.com/office/drawing/2014/main" val="2851999887"/>
                  </a:ext>
                </a:extLst>
              </a:tr>
              <a:tr h="2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Review Rating</a:t>
                      </a:r>
                      <a:endParaRPr lang="en-IN" sz="13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Customer rating for the product</a:t>
                      </a:r>
                      <a:endParaRPr lang="en-US" sz="13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extLst>
                  <a:ext uri="{0D108BD9-81ED-4DB2-BD59-A6C34878D82A}">
                    <a16:rowId xmlns:a16="http://schemas.microsoft.com/office/drawing/2014/main" val="2874436598"/>
                  </a:ext>
                </a:extLst>
              </a:tr>
              <a:tr h="2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Subscription Status</a:t>
                      </a:r>
                      <a:endParaRPr lang="en-IN" sz="13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Whether customer is subscribed (Yes/No)</a:t>
                      </a:r>
                      <a:endParaRPr lang="en-US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extLst>
                  <a:ext uri="{0D108BD9-81ED-4DB2-BD59-A6C34878D82A}">
                    <a16:rowId xmlns:a16="http://schemas.microsoft.com/office/drawing/2014/main" val="3235905175"/>
                  </a:ext>
                </a:extLst>
              </a:tr>
              <a:tr h="2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Shipping Type</a:t>
                      </a:r>
                      <a:endParaRPr lang="en-IN" sz="13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Type of shipping selected</a:t>
                      </a:r>
                      <a:endParaRPr lang="en-IN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extLst>
                  <a:ext uri="{0D108BD9-81ED-4DB2-BD59-A6C34878D82A}">
                    <a16:rowId xmlns:a16="http://schemas.microsoft.com/office/drawing/2014/main" val="3973295278"/>
                  </a:ext>
                </a:extLst>
              </a:tr>
              <a:tr h="2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Discount Applied</a:t>
                      </a:r>
                      <a:endParaRPr lang="en-IN" sz="13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Whether discount was applied</a:t>
                      </a:r>
                      <a:endParaRPr lang="en-IN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extLst>
                  <a:ext uri="{0D108BD9-81ED-4DB2-BD59-A6C34878D82A}">
                    <a16:rowId xmlns:a16="http://schemas.microsoft.com/office/drawing/2014/main" val="3182834475"/>
                  </a:ext>
                </a:extLst>
              </a:tr>
              <a:tr h="2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Previous Purchases</a:t>
                      </a:r>
                      <a:endParaRPr lang="en-IN" sz="13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Number of past purchases</a:t>
                      </a:r>
                      <a:endParaRPr lang="en-IN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extLst>
                  <a:ext uri="{0D108BD9-81ED-4DB2-BD59-A6C34878D82A}">
                    <a16:rowId xmlns:a16="http://schemas.microsoft.com/office/drawing/2014/main" val="1805767476"/>
                  </a:ext>
                </a:extLst>
              </a:tr>
              <a:tr h="2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Payment Method</a:t>
                      </a:r>
                      <a:endParaRPr lang="en-IN" sz="13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Mode of payment</a:t>
                      </a:r>
                      <a:endParaRPr lang="en-IN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extLst>
                  <a:ext uri="{0D108BD9-81ED-4DB2-BD59-A6C34878D82A}">
                    <a16:rowId xmlns:a16="http://schemas.microsoft.com/office/drawing/2014/main" val="3891788319"/>
                  </a:ext>
                </a:extLst>
              </a:tr>
              <a:tr h="2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Frequency of Purchases</a:t>
                      </a:r>
                      <a:endParaRPr lang="en-IN" sz="13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Purchase frequency (Weekly, Monthly, etc.)</a:t>
                      </a:r>
                      <a:endParaRPr lang="en-US" sz="13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42925" marR="42925" marT="21463" marB="21463" anchor="ctr"/>
                </a:tc>
                <a:extLst>
                  <a:ext uri="{0D108BD9-81ED-4DB2-BD59-A6C34878D82A}">
                    <a16:rowId xmlns:a16="http://schemas.microsoft.com/office/drawing/2014/main" val="3071924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76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Tools &amp;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834640" cy="3931920"/>
          </a:xfrm>
          <a:prstGeom prst="rect">
            <a:avLst/>
          </a:prstGeom>
          <a:solidFill>
            <a:srgbClr val="15253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8346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 + Pandas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2468880" cy="36576"/>
          </a:xfrm>
          <a:prstGeom prst="rect">
            <a:avLst/>
          </a:prstGeom>
          <a:solidFill>
            <a:srgbClr val="028090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745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Loaded raw CSV into DataFrame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Category consistency correction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788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Smart missing value imputation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2461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Duplicate detection &amp; removal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7033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Column standardisation (snake_case)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Exported clean data to SQL Server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822960"/>
            <a:ext cx="2834640" cy="3931920"/>
          </a:xfrm>
          <a:prstGeom prst="rect">
            <a:avLst/>
          </a:prstGeom>
          <a:solidFill>
            <a:srgbClr val="15253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822960"/>
            <a:ext cx="28346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914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</a:rPr>
              <a:t>02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337560" y="14173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SQL Server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37560" y="1764792"/>
            <a:ext cx="2468880" cy="36576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8745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12 analytical queries written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23317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Revenue by category &amp; gender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37560" y="2788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Discount impact analysis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32461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Customer segmentation (New / Returning / Loyal)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37033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Subscription vs spend behaviour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37560" y="41605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Top products per category (window functions)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822960"/>
            <a:ext cx="2834640" cy="3931920"/>
          </a:xfrm>
          <a:prstGeom prst="rect">
            <a:avLst/>
          </a:prstGeom>
          <a:solidFill>
            <a:srgbClr val="15253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822960"/>
            <a:ext cx="283464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914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896"/>
                </a:solidFill>
              </a:rPr>
              <a:t>03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309360" y="14173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Power BI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1764792"/>
            <a:ext cx="2468880" cy="36576"/>
          </a:xfrm>
          <a:prstGeom prst="rect">
            <a:avLst/>
          </a:prstGeom>
          <a:solidFill>
            <a:srgbClr val="00A896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18745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2-page interactive dashboard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09360" y="23317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KPI cards: 5K customers, $994K spend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09360" y="2788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Revenue by gender, category, season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09360" y="32461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Shipping mode comparison chart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09360" y="37033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Age group revenue donut chart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09360" y="41605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BDD5EA"/>
                </a:solidFill>
              </a:rPr>
              <a:t>Top/Bottom 5 items by rating &amp; revenue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7432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</a:rPr>
              <a:t>→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7150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Python — Exploratory Data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91440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1. Data Loading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24358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Imported pandas, loaded customer_shopping_behavior.csv into a structured DataFrame for downstream analysis.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54864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91440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2. Initial Exploration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24358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Used df.head(), df.describe(), df.info() and df.isnull().sum() to understand shape, types, and gaps.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54864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28600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3. Category Correction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261518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Found item–category mismatches; built a mapping dictionary and corrected category labels — a real-world data quality fix.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19456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194560"/>
            <a:ext cx="54864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228600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4. Missing Value Handling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261518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Applied domain logic per column: Electronics/Accessories → 'N/A', Clothing → mode, Ratings → product-level mean, Prior Purchases → 0.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54864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365760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5. Duplicate Removal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398678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Identified duplicates via Customer ID and dropped them to ensure each customer appears exactly once.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566160"/>
            <a:ext cx="54864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365760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6. Column Standardisation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73752" y="398678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Renamed all columns to lowercase snake_case (SQL &amp; Power BI friendly) then exported the clean dataset via pyodbc/SQLAlchemy.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SQL Server — Data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011680" cy="1051560"/>
          </a:xfrm>
          <a:prstGeom prst="rect">
            <a:avLst/>
          </a:prstGeom>
          <a:solidFill>
            <a:srgbClr val="15253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64008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886968"/>
            <a:ext cx="18288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$486K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93192" y="1422349"/>
            <a:ext cx="18288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EC5CC"/>
                </a:solidFill>
              </a:rPr>
              <a:t>Electronics Revenue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EC5CC"/>
                </a:solidFill>
              </a:rPr>
              <a:t>(#1 Category)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822960"/>
            <a:ext cx="2011680" cy="1051560"/>
          </a:xfrm>
          <a:prstGeom prst="rect">
            <a:avLst/>
          </a:prstGeom>
          <a:solidFill>
            <a:srgbClr val="15253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82296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587752" y="886968"/>
            <a:ext cx="18288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+20%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87752" y="1422349"/>
            <a:ext cx="18288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EC5CC"/>
                </a:solidFill>
              </a:rPr>
              <a:t>Avg Spend Lift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EC5CC"/>
                </a:solidFill>
              </a:rPr>
              <a:t>with Discounts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822960"/>
            <a:ext cx="2011680" cy="1051560"/>
          </a:xfrm>
          <a:prstGeom prst="rect">
            <a:avLst/>
          </a:prstGeom>
          <a:solidFill>
            <a:srgbClr val="15253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822960"/>
            <a:ext cx="64008" cy="1051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782312" y="886968"/>
            <a:ext cx="18288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3,085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82312" y="1422349"/>
            <a:ext cx="18288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EC5CC"/>
                </a:solidFill>
              </a:rPr>
              <a:t>Loyal Customers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EC5CC"/>
                </a:solidFill>
              </a:rPr>
              <a:t>(&gt;10 purchases)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822960"/>
            <a:ext cx="2011680" cy="1051560"/>
          </a:xfrm>
          <a:prstGeom prst="rect">
            <a:avLst/>
          </a:prstGeom>
          <a:solidFill>
            <a:srgbClr val="15253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822960"/>
            <a:ext cx="64008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976872" y="886968"/>
            <a:ext cx="18288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1,190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76872" y="1422349"/>
            <a:ext cx="18288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EC5CC"/>
                </a:solidFill>
              </a:rPr>
              <a:t>Repeat Buyers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EC5CC"/>
                </a:solidFill>
              </a:rPr>
              <a:t>who Subscribe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2011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12 Business Questions Answered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" y="2395728"/>
            <a:ext cx="2834640" cy="594360"/>
          </a:xfrm>
          <a:prstGeom prst="rect">
            <a:avLst/>
          </a:prstGeom>
          <a:solidFill>
            <a:srgbClr val="15253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" y="23957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Q1  </a:t>
            </a:r>
            <a:r>
              <a:rPr lang="en-US" sz="950" dirty="0">
                <a:solidFill>
                  <a:srgbClr val="BDD5EA"/>
                </a:solidFill>
              </a:rPr>
              <a:t>Which category generates the highest revenue?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2395728"/>
            <a:ext cx="2834640" cy="594360"/>
          </a:xfrm>
          <a:prstGeom prst="rect">
            <a:avLst/>
          </a:prstGeom>
          <a:solidFill>
            <a:srgbClr val="15253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10128" y="23957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Q2  </a:t>
            </a:r>
            <a:r>
              <a:rPr lang="en-US" sz="950" dirty="0">
                <a:solidFill>
                  <a:srgbClr val="BDD5EA"/>
                </a:solidFill>
              </a:rPr>
              <a:t>Are discounts increasing purchase value?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2395728"/>
            <a:ext cx="2834640" cy="594360"/>
          </a:xfrm>
          <a:prstGeom prst="rect">
            <a:avLst/>
          </a:prstGeom>
          <a:solidFill>
            <a:srgbClr val="15253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81928" y="23957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Q3  </a:t>
            </a:r>
            <a:r>
              <a:rPr lang="en-US" sz="950" dirty="0">
                <a:solidFill>
                  <a:srgbClr val="BDD5EA"/>
                </a:solidFill>
              </a:rPr>
              <a:t>Total revenue by gender breakdown?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3054096"/>
            <a:ext cx="2834640" cy="594360"/>
          </a:xfrm>
          <a:prstGeom prst="rect">
            <a:avLst/>
          </a:prstGeom>
          <a:solidFill>
            <a:srgbClr val="15253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8328" y="305409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Q4  </a:t>
            </a:r>
            <a:r>
              <a:rPr lang="en-US" sz="950" dirty="0">
                <a:solidFill>
                  <a:srgbClr val="BDD5EA"/>
                </a:solidFill>
              </a:rPr>
              <a:t>Discount users who spent above average?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3054096"/>
            <a:ext cx="2834640" cy="594360"/>
          </a:xfrm>
          <a:prstGeom prst="rect">
            <a:avLst/>
          </a:prstGeom>
          <a:solidFill>
            <a:srgbClr val="15253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10128" y="305409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Q5  </a:t>
            </a:r>
            <a:r>
              <a:rPr lang="en-US" sz="950" dirty="0">
                <a:solidFill>
                  <a:srgbClr val="BDD5EA"/>
                </a:solidFill>
              </a:rPr>
              <a:t>Top 5 products by average review rating?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72200" y="3054096"/>
            <a:ext cx="2834640" cy="594360"/>
          </a:xfrm>
          <a:prstGeom prst="rect">
            <a:avLst/>
          </a:prstGeom>
          <a:solidFill>
            <a:srgbClr val="15253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81928" y="305409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Q6  </a:t>
            </a:r>
            <a:r>
              <a:rPr lang="en-US" sz="950" dirty="0">
                <a:solidFill>
                  <a:srgbClr val="BDD5EA"/>
                </a:solidFill>
              </a:rPr>
              <a:t>Bottom 5 products by average review rating?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" y="3712464"/>
            <a:ext cx="2834640" cy="594360"/>
          </a:xfrm>
          <a:prstGeom prst="rect">
            <a:avLst/>
          </a:prstGeom>
          <a:solidFill>
            <a:srgbClr val="15253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8328" y="371246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Q7  </a:t>
            </a:r>
            <a:r>
              <a:rPr lang="en-US" sz="950" dirty="0">
                <a:solidFill>
                  <a:srgbClr val="BDD5EA"/>
                </a:solidFill>
              </a:rPr>
              <a:t>Standard vs Express shipping purchase avg?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0" y="3712464"/>
            <a:ext cx="2834640" cy="594360"/>
          </a:xfrm>
          <a:prstGeom prst="rect">
            <a:avLst/>
          </a:prstGeom>
          <a:solidFill>
            <a:srgbClr val="15253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310128" y="371246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Q8  </a:t>
            </a:r>
            <a:r>
              <a:rPr lang="en-US" sz="950" dirty="0">
                <a:solidFill>
                  <a:srgbClr val="BDD5EA"/>
                </a:solidFill>
              </a:rPr>
              <a:t>Do subscribers spend more than non-subscribers?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72200" y="3712464"/>
            <a:ext cx="2834640" cy="594360"/>
          </a:xfrm>
          <a:prstGeom prst="rect">
            <a:avLst/>
          </a:prstGeom>
          <a:solidFill>
            <a:srgbClr val="15253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81928" y="371246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Q9  </a:t>
            </a:r>
            <a:r>
              <a:rPr lang="en-US" sz="950" dirty="0">
                <a:solidFill>
                  <a:srgbClr val="BDD5EA"/>
                </a:solidFill>
              </a:rPr>
              <a:t>Top 5 products by discount usage %?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4370832"/>
            <a:ext cx="2834640" cy="594360"/>
          </a:xfrm>
          <a:prstGeom prst="rect">
            <a:avLst/>
          </a:prstGeom>
          <a:solidFill>
            <a:srgbClr val="15253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38328" y="43708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Q10  </a:t>
            </a:r>
            <a:r>
              <a:rPr lang="en-US" sz="950" dirty="0">
                <a:solidFill>
                  <a:srgbClr val="BDD5EA"/>
                </a:solidFill>
              </a:rPr>
              <a:t>Customer segmentation: New / Returning / Loyal?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0" y="4370832"/>
            <a:ext cx="2834640" cy="594360"/>
          </a:xfrm>
          <a:prstGeom prst="rect">
            <a:avLst/>
          </a:prstGeom>
          <a:solidFill>
            <a:srgbClr val="15253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310128" y="43708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Q11  </a:t>
            </a:r>
            <a:r>
              <a:rPr lang="en-US" sz="950" dirty="0">
                <a:solidFill>
                  <a:srgbClr val="BDD5EA"/>
                </a:solidFill>
              </a:rPr>
              <a:t>Top 3 products per category (window function)?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72200" y="4370832"/>
            <a:ext cx="2834640" cy="594360"/>
          </a:xfrm>
          <a:prstGeom prst="rect">
            <a:avLst/>
          </a:prstGeom>
          <a:solidFill>
            <a:srgbClr val="15253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81928" y="43708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Q12  </a:t>
            </a:r>
            <a:r>
              <a:rPr lang="en-US" sz="950" dirty="0">
                <a:solidFill>
                  <a:srgbClr val="BDD5EA"/>
                </a:solidFill>
              </a:rPr>
              <a:t>Revenue contribution by age group?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47A79-3361-4648-86B3-5EB56666A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782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Power BI — Interactive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804672"/>
            <a:ext cx="1664208" cy="822960"/>
          </a:xfrm>
          <a:prstGeom prst="rect">
            <a:avLst/>
          </a:prstGeom>
          <a:solidFill>
            <a:srgbClr val="15253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804672"/>
            <a:ext cx="64008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" y="868680"/>
            <a:ext cx="148132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" y="1273759"/>
            <a:ext cx="148132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EC5CC"/>
                </a:solidFill>
              </a:rPr>
              <a:t>Total Customers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11096" y="804672"/>
            <a:ext cx="1664208" cy="822960"/>
          </a:xfrm>
          <a:prstGeom prst="rect">
            <a:avLst/>
          </a:prstGeom>
          <a:solidFill>
            <a:srgbClr val="15253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11096" y="80467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075688" y="868680"/>
            <a:ext cx="148132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75688" y="1273759"/>
            <a:ext cx="148132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EC5CC"/>
                </a:solidFill>
              </a:rPr>
              <a:t>Unique Products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85032" y="804672"/>
            <a:ext cx="1664208" cy="822960"/>
          </a:xfrm>
          <a:prstGeom prst="rect">
            <a:avLst/>
          </a:prstGeom>
          <a:solidFill>
            <a:srgbClr val="15253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85032" y="804672"/>
            <a:ext cx="64008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3849624" y="868680"/>
            <a:ext cx="148132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$994K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849624" y="1273759"/>
            <a:ext cx="148132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EC5CC"/>
                </a:solidFill>
              </a:rPr>
              <a:t>Total Spend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58968" y="804672"/>
            <a:ext cx="1664208" cy="822960"/>
          </a:xfrm>
          <a:prstGeom prst="rect">
            <a:avLst/>
          </a:prstGeom>
          <a:solidFill>
            <a:srgbClr val="15253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58968" y="804672"/>
            <a:ext cx="64008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623560" y="868680"/>
            <a:ext cx="148132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$198.84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23560" y="1273759"/>
            <a:ext cx="148132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EC5CC"/>
                </a:solidFill>
              </a:rPr>
              <a:t>Avg Spend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32904" y="804672"/>
            <a:ext cx="1664208" cy="822960"/>
          </a:xfrm>
          <a:prstGeom prst="rect">
            <a:avLst/>
          </a:prstGeom>
          <a:solidFill>
            <a:srgbClr val="15253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32904" y="80467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397496" y="868680"/>
            <a:ext cx="148132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3.62★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97496" y="1273759"/>
            <a:ext cx="148132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EC5CC"/>
                </a:solidFill>
              </a:rPr>
              <a:t>Avg Rating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Page 1 — Overview Dashboard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2176272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▸  </a:t>
            </a:r>
            <a:r>
              <a:rPr lang="en-US" sz="1000" dirty="0">
                <a:solidFill>
                  <a:srgbClr val="BDD5EA"/>
                </a:solidFill>
              </a:rPr>
              <a:t>Revenue by Gender (donut: Male 39%, Female 35%, Other 25%)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2615184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▸  </a:t>
            </a:r>
            <a:r>
              <a:rPr lang="en-US" sz="1000" dirty="0">
                <a:solidFill>
                  <a:srgbClr val="BDD5EA"/>
                </a:solidFill>
              </a:rPr>
              <a:t>Revenue by Category (bar: Electronics leads at $486K)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3054096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▸  </a:t>
            </a:r>
            <a:r>
              <a:rPr lang="en-US" sz="1000" dirty="0">
                <a:solidFill>
                  <a:srgbClr val="BDD5EA"/>
                </a:solidFill>
              </a:rPr>
              <a:t>Revenue by Season (Spring $243K → Winter $241K → Summer $236K)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3493008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▸  </a:t>
            </a:r>
            <a:r>
              <a:rPr lang="en-US" sz="1000" dirty="0">
                <a:solidFill>
                  <a:srgbClr val="BDD5EA"/>
                </a:solidFill>
              </a:rPr>
              <a:t>Shipping Mode comparison (Express 1,199 vs Standard 1,201 orders)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3931920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▸  </a:t>
            </a:r>
            <a:r>
              <a:rPr lang="en-US" sz="1000" dirty="0">
                <a:solidFill>
                  <a:srgbClr val="BDD5EA"/>
                </a:solidFill>
              </a:rPr>
              <a:t>Revenue by Age Distribution (51+ age group contributes 40%)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4370832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▸  </a:t>
            </a:r>
            <a:r>
              <a:rPr lang="en-US" sz="1000" dirty="0">
                <a:solidFill>
                  <a:srgbClr val="BDD5EA"/>
                </a:solidFill>
              </a:rPr>
              <a:t>Payment Method breakdown (Debit Card 25.5% most popular)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783080"/>
            <a:ext cx="36576" cy="306324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Page 2 — Product &amp; Location Deep Dive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217627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r>
              <a:rPr lang="en-US" sz="1000" dirty="0">
                <a:solidFill>
                  <a:srgbClr val="BDD5EA"/>
                </a:solidFill>
              </a:rPr>
              <a:t>Top 5 Items by Rating (Gloves 3.86, Sandals 3.84, Boots 3.82)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2615184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r>
              <a:rPr lang="en-US" sz="1000" dirty="0">
                <a:solidFill>
                  <a:srgbClr val="BDD5EA"/>
                </a:solidFill>
              </a:rPr>
              <a:t>Bottom 5 Items by Rating (Phone 2.94, Headphones 3.08)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054096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r>
              <a:rPr lang="en-US" sz="1000" dirty="0">
                <a:solidFill>
                  <a:srgbClr val="BDD5EA"/>
                </a:solidFill>
              </a:rPr>
              <a:t>Top 5 Items by Revenue (Headphones $138K, Phone $126K)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493008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r>
              <a:rPr lang="en-US" sz="1000" dirty="0">
                <a:solidFill>
                  <a:srgbClr val="BDD5EA"/>
                </a:solidFill>
              </a:rPr>
              <a:t>Bottom 5 Items by Revenue (Jeans $8K, Gloves $8K)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931920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r>
              <a:rPr lang="en-US" sz="1000" dirty="0">
                <a:solidFill>
                  <a:srgbClr val="BDD5EA"/>
                </a:solidFill>
              </a:rPr>
              <a:t>Top 5 Locations by Revenue (New York $144K leads)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437083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r>
              <a:rPr lang="en-US" sz="1000" dirty="0">
                <a:solidFill>
                  <a:srgbClr val="BDD5EA"/>
                </a:solidFill>
              </a:rPr>
              <a:t>Bottom 5 Locations (Kansas, Hawaii lowest at ~$3.4K–$3.9K)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52534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</a:rPr>
              <a:t>🎛️  Interactive Slicers: Category  ·  Gender  ·  Discount Applied  ·  Subscription Status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Conclusions &amp;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1280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896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Electronics = Revenue 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298448"/>
            <a:ext cx="3968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Electronics alone generates $486K (48% of total). Focus inventory, marketing, and promotions here first.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896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49240" y="91440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Target 51+ Age Segment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3752" y="1298448"/>
            <a:ext cx="3968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Customers aged 51+ contribute 40% of total revenue. Loyalty programs should be tailored to this demographic.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40280"/>
            <a:ext cx="54864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2313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233172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Subscriptions Drive Spend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2715768"/>
            <a:ext cx="3968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Subscribers spend 63% more on average. Growing the subscriber base is a high-ROI strategy.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24028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40280"/>
            <a:ext cx="54864" cy="1280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2313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49240" y="233172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Discounts Need Balancing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2715768"/>
            <a:ext cx="3968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Discounts raise average order value by 20%, but must be selective — non-discount revenue is still higher overall.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5760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37307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4400" y="374904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3,085 Loyal Customers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133088"/>
            <a:ext cx="3968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62% of customers are classified as loyal. Retain them with VIP programs and personalised recommendations.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65760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57600"/>
            <a:ext cx="54864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4873752" y="37307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49240" y="374904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New York Is Top Market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73752" y="4133088"/>
            <a:ext cx="3968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New York generates $144K — 14.5% of all revenue. Geographic campaigns should prioritise top 5 cities.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Technical Stack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6"/>
                </a:solidFill>
              </a:rPr>
              <a:t>End-to-End Data Analytics Portfolio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34200" y="1600200"/>
            <a:ext cx="2286000" cy="2011680"/>
          </a:xfrm>
          <a:prstGeom prst="rect">
            <a:avLst/>
          </a:prstGeom>
          <a:solidFill>
            <a:srgbClr val="15253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4200" y="1600200"/>
            <a:ext cx="228600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3420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Python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&amp; Pandas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4200" y="2468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C5CC"/>
                </a:solidFill>
              </a:rPr>
              <a:t>Data Cleaning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EC5CC"/>
                </a:solidFill>
              </a:rPr>
              <a:t>&amp; EDA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65720" y="3200400"/>
            <a:ext cx="822960" cy="274320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665720" y="3200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Done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83360" y="1600200"/>
            <a:ext cx="2286000" cy="2011680"/>
          </a:xfrm>
          <a:prstGeom prst="rect">
            <a:avLst/>
          </a:prstGeom>
          <a:solidFill>
            <a:srgbClr val="15253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83360" y="1600200"/>
            <a:ext cx="2286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48336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SQL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Server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83360" y="2468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C5CC"/>
                </a:solidFill>
              </a:rPr>
              <a:t>Business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EC5CC"/>
                </a:solidFill>
              </a:rPr>
              <a:t>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0480" y="3200400"/>
            <a:ext cx="822960" cy="27432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3200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Done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2520" y="1600200"/>
            <a:ext cx="2286000" cy="2011680"/>
          </a:xfrm>
          <a:prstGeom prst="rect">
            <a:avLst/>
          </a:prstGeom>
          <a:solidFill>
            <a:srgbClr val="15253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2520" y="1600200"/>
            <a:ext cx="228600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03252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</a:rPr>
              <a:t>Power BI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32520" y="2468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C5CC"/>
                </a:solidFill>
              </a:rPr>
              <a:t>Interactive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EC5CC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4040" y="3199320"/>
            <a:ext cx="822960" cy="274320"/>
          </a:xfrm>
          <a:prstGeom prst="rect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764040" y="3200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Done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6D88"/>
                </a:solidFill>
              </a:rPr>
              <a:t>Customer Insight Engine  ·  Full Pipeline Project  ·  Portfolio Ready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1085</Words>
  <Application>Microsoft Office PowerPoint</Application>
  <PresentationFormat>On-screen Show (16:9)</PresentationFormat>
  <Paragraphs>193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Insight Engine</dc:title>
  <dc:subject>PptxGenJS Presentation</dc:subject>
  <dc:creator>PptxGenJS</dc:creator>
  <cp:lastModifiedBy>Parbhaat Sharma</cp:lastModifiedBy>
  <cp:revision>2</cp:revision>
  <dcterms:created xsi:type="dcterms:W3CDTF">2026-05-02T09:23:46Z</dcterms:created>
  <dcterms:modified xsi:type="dcterms:W3CDTF">2026-05-02T10:49:41Z</dcterms:modified>
</cp:coreProperties>
</file>